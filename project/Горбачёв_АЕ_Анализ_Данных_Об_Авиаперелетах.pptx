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4" d="100"/>
          <a:sy n="84" d="100"/>
        </p:scale>
        <p:origin x="351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039677-ACE0-3013-AE82-41BE4CE3A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A805CD1-EE40-01B2-B9E6-7B7D05097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215E79-2102-9836-7420-0FCC21893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0590A-43B2-4E2B-9057-E1D8650457D8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9E3F46-12E5-0AFC-C563-2F79D49FD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E3ADDB-8A58-073C-110B-9FEA14385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F1B45-0430-498B-8D81-5FE220304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0777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D42DFE-736B-515B-501F-130328EA6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820D83-FE11-E7D2-2370-711FC148E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D9C86F-E8A8-AE13-0F1A-CF6E49BC0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0590A-43B2-4E2B-9057-E1D8650457D8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B02CB9-D616-9023-CFBB-1711360A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6D0232-C143-D077-3ABD-A375BAF2C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F1B45-0430-498B-8D81-5FE220304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527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A18359-8545-8EEF-197E-A6F4A9A8A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ED58F0-9920-D7C1-0D8F-29DD45C06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C1F042-F093-D2C1-518F-F3753D5C8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0590A-43B2-4E2B-9057-E1D8650457D8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99DBC2-16F6-D97E-BA66-C54366089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76457F-ACEB-8F42-0EF8-BDB30CFF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F1B45-0430-498B-8D81-5FE220304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971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6DA7E5-D74F-FDEC-6506-1B0699379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B26837-8B66-D4C5-B6A7-5387CCF41C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838FE6-62C6-5102-3898-6589A9B352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5853FA0-CD0B-7410-68DB-FE6E863FA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0590A-43B2-4E2B-9057-E1D8650457D8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11A991-D397-A8F1-58F1-A79E80EAA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2AB234-5A54-B956-6A1A-65B2BA337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F1B45-0430-498B-8D81-5FE220304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2035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4927D-E621-9BF9-49DF-0C284BA26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24842F-64C1-56CC-75DD-B060E8A54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C72176-AD2F-C618-4C8E-D7B2A1D14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A05F2AA-4FCD-FDCE-3BDB-81DA01CFCA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FD00E42-9118-883D-D668-13A02474E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A29E52F-904A-6509-92BA-E87A7F06B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0590A-43B2-4E2B-9057-E1D8650457D8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F5601A7-3EDC-97C4-DC28-2EEA1B6A6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9A87889-DF47-B894-380B-B14248771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F1B45-0430-498B-8D81-5FE220304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259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215415-6BA5-6931-E6E5-77F67D6A7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2A01EA-2C96-D844-EC18-CCDC472D0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0590A-43B2-4E2B-9057-E1D8650457D8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46F3630-92B1-B10D-A500-9AEB81B1A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FC35664-32AD-ED6E-4278-1FDD4FAF4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F1B45-0430-498B-8D81-5FE220304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8766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D12D4BD-069B-A3DA-D7D9-2801AFEEF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0590A-43B2-4E2B-9057-E1D8650457D8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4C80784-2A1F-EEA0-49FE-3B29E41AB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222586-F280-7EC5-FB4B-510E2D8B9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F1B45-0430-498B-8D81-5FE220304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4341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7C377D-DD5E-4EF5-FCAE-6C13397BB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AC5879-11DB-AE34-1619-702D1F4D4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9A3209C-EBC8-985F-2ECE-C121D005D2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D41C681-27AC-76B5-26A3-EF2A27E89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0590A-43B2-4E2B-9057-E1D8650457D8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43BC06-17E3-A1F5-BF58-4492F3787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175CB7-0099-DAA9-4105-B7A100214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F1B45-0430-498B-8D81-5FE220304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9698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4E4104-D840-1244-3FEE-E742FA57B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00A790A-BBB5-7967-607B-AAA213354B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AECB663-A593-92C4-E20C-EE0EBF681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45E4113-240C-8F9C-A369-548333AAB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0590A-43B2-4E2B-9057-E1D8650457D8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A922E3-A917-2553-9277-1C5ABD9B1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162285-E2A2-3825-C55F-B2B3BE76C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F1B45-0430-498B-8D81-5FE220304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4416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12D352-A748-A84D-1F9E-F5A78696C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4AAE700-F9E5-398F-A156-498949523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27FE85-2955-3D3F-7829-D18D9F14B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0590A-43B2-4E2B-9057-E1D8650457D8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5EF1BD-C3D1-7482-31E5-856343FA1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E78DEF-BC80-187D-2378-D679460AB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F1B45-0430-498B-8D81-5FE220304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9430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499424E-ED3C-DAFE-A361-595857669E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CAF3E94-3583-6CF6-9E40-10EC46976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30501E-8D51-05F6-3807-906165BD1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0590A-43B2-4E2B-9057-E1D8650457D8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FDC510-3791-B903-F6DE-2556F2C87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F17615-5F84-A19E-9114-16F24EDDE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F1B45-0430-498B-8D81-5FE220304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1716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78A8F2-04B4-0C62-3F49-100F13159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D9008E2-37EA-CFD6-446B-33CF20962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00D0C3-1F46-0FCF-3843-EF82FD33A2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0590A-43B2-4E2B-9057-E1D8650457D8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CEAF49-AD72-C4BE-EA14-43A4349DA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F67F39-9E42-D930-D906-BC17A74CA6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4F1B45-0430-498B-8D81-5FE220304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6476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sv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BD6755-2C91-78E2-877A-443AF03ED8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Анализ данных об авиаперелетах на основе открытого </a:t>
            </a:r>
            <a:r>
              <a:rPr lang="en-US" sz="4400" dirty="0"/>
              <a:t>API</a:t>
            </a:r>
            <a:endParaRPr lang="ru-RU" sz="4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4142F81-67D9-BA1C-1229-548D13C212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36164" y="5828403"/>
            <a:ext cx="6597689" cy="543999"/>
          </a:xfrm>
        </p:spPr>
        <p:txBody>
          <a:bodyPr/>
          <a:lstStyle/>
          <a:p>
            <a:r>
              <a:rPr lang="ru-RU" dirty="0"/>
              <a:t>«</a:t>
            </a:r>
            <a:r>
              <a:rPr lang="en-US" dirty="0" err="1"/>
              <a:t>ClickHouse</a:t>
            </a:r>
            <a:r>
              <a:rPr lang="en-US" dirty="0"/>
              <a:t> </a:t>
            </a:r>
            <a:r>
              <a:rPr lang="ru-RU" dirty="0"/>
              <a:t>для инженеров и архитекторов БД»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BF5BF15-5E25-D839-21A5-0E53708E6C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51799" y="485598"/>
            <a:ext cx="1482054" cy="43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182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13BC2-E438-A9E4-141A-F8465D793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F0320E-09D4-0D3F-5521-C56EDD066E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147" y="316277"/>
            <a:ext cx="2792422" cy="772413"/>
          </a:xfrm>
        </p:spPr>
        <p:txBody>
          <a:bodyPr>
            <a:normAutofit/>
          </a:bodyPr>
          <a:lstStyle/>
          <a:p>
            <a:pPr algn="l"/>
            <a:r>
              <a:rPr lang="ru-RU" sz="4000" dirty="0"/>
              <a:t>Обо мне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75C08A5-8E5F-6FAC-DB18-C20D95928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51799" y="485598"/>
            <a:ext cx="1482054" cy="433772"/>
          </a:xfrm>
          <a:prstGeom prst="rect">
            <a:avLst/>
          </a:prstGeom>
        </p:spPr>
      </p:pic>
      <p:pic>
        <p:nvPicPr>
          <p:cNvPr id="12" name="Google Shape;164;p37">
            <a:extLst>
              <a:ext uri="{FF2B5EF4-FFF2-40B4-BE49-F238E27FC236}">
                <a16:creationId xmlns:a16="http://schemas.microsoft.com/office/drawing/2014/main" id="{9BF43FC9-17F2-7A27-DA4C-AC315306E767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67" b="17993"/>
          <a:stretch>
            <a:fillRect/>
          </a:stretch>
        </p:blipFill>
        <p:spPr>
          <a:xfrm>
            <a:off x="1524946" y="2083259"/>
            <a:ext cx="3308207" cy="3327586"/>
          </a:xfrm>
          <a:prstGeom prst="ellipse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A66B16D-3D24-D9AD-19DE-9EA368E72780}"/>
              </a:ext>
            </a:extLst>
          </p:cNvPr>
          <p:cNvSpPr txBox="1"/>
          <p:nvPr/>
        </p:nvSpPr>
        <p:spPr>
          <a:xfrm>
            <a:off x="5760240" y="2485041"/>
            <a:ext cx="4184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/>
              <a:t>Горбачёв Артём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8375DC-14EA-5210-8C6C-89F7D6C07CDF}"/>
              </a:ext>
            </a:extLst>
          </p:cNvPr>
          <p:cNvSpPr txBox="1"/>
          <p:nvPr/>
        </p:nvSpPr>
        <p:spPr>
          <a:xfrm>
            <a:off x="5760240" y="3317561"/>
            <a:ext cx="5340927" cy="858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DevSecOps</a:t>
            </a:r>
            <a:r>
              <a:rPr lang="en-US" sz="2400" dirty="0"/>
              <a:t> Engineer, DevOps Engineer, </a:t>
            </a:r>
            <a:r>
              <a:rPr lang="en-US" sz="2400" dirty="0" err="1"/>
              <a:t>FullStack</a:t>
            </a:r>
            <a:r>
              <a:rPr lang="en-US" sz="2400" dirty="0"/>
              <a:t> Developer</a:t>
            </a:r>
            <a:endParaRPr lang="ru-RU" sz="240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A19A3F4-C697-FAB4-077F-CA4CD3286B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43367" y="4367588"/>
            <a:ext cx="1884218" cy="52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529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6B339-D70E-6FE9-BFD1-6313E4003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B5B796-FC84-DF11-93CC-CACBC0930B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147" y="316277"/>
            <a:ext cx="4059770" cy="772413"/>
          </a:xfrm>
        </p:spPr>
        <p:txBody>
          <a:bodyPr>
            <a:normAutofit/>
          </a:bodyPr>
          <a:lstStyle/>
          <a:p>
            <a:pPr algn="l"/>
            <a:r>
              <a:rPr lang="ru-RU" sz="4000"/>
              <a:t>План </a:t>
            </a:r>
            <a:r>
              <a:rPr lang="ru-RU" sz="4000" dirty="0"/>
              <a:t>защиты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6D37483-1E38-9BFB-5B3F-831E6681C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51799" y="485598"/>
            <a:ext cx="1482054" cy="433772"/>
          </a:xfrm>
          <a:prstGeom prst="rect">
            <a:avLst/>
          </a:prstGeom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A648B6D3-12A8-3816-AC8A-210CBCF52D9A}"/>
              </a:ext>
            </a:extLst>
          </p:cNvPr>
          <p:cNvSpPr/>
          <p:nvPr/>
        </p:nvSpPr>
        <p:spPr>
          <a:xfrm>
            <a:off x="458147" y="2098964"/>
            <a:ext cx="3553691" cy="67194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Цели и задачи проекта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8384378-7B27-CD40-628F-DA8606AC366E}"/>
              </a:ext>
            </a:extLst>
          </p:cNvPr>
          <p:cNvSpPr/>
          <p:nvPr/>
        </p:nvSpPr>
        <p:spPr>
          <a:xfrm>
            <a:off x="1026184" y="3147339"/>
            <a:ext cx="3553691" cy="67194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Используемые инструменты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5C7A46CA-A2C5-6E50-550C-D864E79C9D5D}"/>
              </a:ext>
            </a:extLst>
          </p:cNvPr>
          <p:cNvSpPr/>
          <p:nvPr/>
        </p:nvSpPr>
        <p:spPr>
          <a:xfrm>
            <a:off x="1767401" y="4195714"/>
            <a:ext cx="3553691" cy="67194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Результат выполнения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CFEF5DC2-BC17-4E32-FD05-4C877B2AF560}"/>
              </a:ext>
            </a:extLst>
          </p:cNvPr>
          <p:cNvSpPr/>
          <p:nvPr/>
        </p:nvSpPr>
        <p:spPr>
          <a:xfrm>
            <a:off x="2432420" y="5244089"/>
            <a:ext cx="3553691" cy="67194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Демонстрация результата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48E7FCF-26D0-D05D-09B7-FA12AA2D82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177" y="2098964"/>
            <a:ext cx="5263676" cy="2958186"/>
          </a:xfrm>
          <a:prstGeom prst="rect">
            <a:avLst/>
          </a:prstGeom>
          <a:effectLst>
            <a:softEdge rad="101600"/>
          </a:effectLst>
        </p:spPr>
      </p:pic>
    </p:spTree>
    <p:extLst>
      <p:ext uri="{BB962C8B-B14F-4D97-AF65-F5344CB8AC3E}">
        <p14:creationId xmlns:p14="http://schemas.microsoft.com/office/powerpoint/2010/main" val="1980950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203A6-5F04-AF94-D384-879582F06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9DA275-8EE9-DDD2-D87D-09C4C0899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146" y="316277"/>
            <a:ext cx="5637853" cy="772413"/>
          </a:xfrm>
        </p:spPr>
        <p:txBody>
          <a:bodyPr>
            <a:normAutofit/>
          </a:bodyPr>
          <a:lstStyle/>
          <a:p>
            <a:pPr algn="l"/>
            <a:r>
              <a:rPr lang="ru-RU" sz="4000" dirty="0"/>
              <a:t>Цели проекта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E1AC1BD-99D1-1613-2B28-1D06CF26C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51799" y="485598"/>
            <a:ext cx="1482054" cy="4337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5AC207-41C0-ED43-9A0B-0A537B70DD76}"/>
              </a:ext>
            </a:extLst>
          </p:cNvPr>
          <p:cNvSpPr txBox="1"/>
          <p:nvPr/>
        </p:nvSpPr>
        <p:spPr>
          <a:xfrm>
            <a:off x="526472" y="1932709"/>
            <a:ext cx="95388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ru-RU" sz="2400" dirty="0"/>
              <a:t>Автоматизация сбора данных об авиаперелетах</a:t>
            </a:r>
          </a:p>
          <a:p>
            <a:pPr marL="457200" indent="-457200">
              <a:buAutoNum type="arabicPeriod"/>
            </a:pPr>
            <a:r>
              <a:rPr lang="ru-RU" sz="2400" dirty="0"/>
              <a:t>Построение хранилища на базе </a:t>
            </a:r>
            <a:r>
              <a:rPr lang="en-US" sz="2400" dirty="0" err="1"/>
              <a:t>ClickHouse</a:t>
            </a:r>
            <a:r>
              <a:rPr lang="en-US" sz="2400" dirty="0"/>
              <a:t> </a:t>
            </a:r>
            <a:r>
              <a:rPr lang="ru-RU" sz="2400" dirty="0"/>
              <a:t>для обеспечения быстрого доступа к данным о расписании рейсов</a:t>
            </a:r>
          </a:p>
          <a:p>
            <a:pPr marL="457200" indent="-457200">
              <a:buAutoNum type="arabicPeriod"/>
            </a:pPr>
            <a:r>
              <a:rPr lang="ru-RU" sz="2400" dirty="0"/>
              <a:t>Визуализация данных</a:t>
            </a:r>
          </a:p>
        </p:txBody>
      </p:sp>
    </p:spTree>
    <p:extLst>
      <p:ext uri="{BB962C8B-B14F-4D97-AF65-F5344CB8AC3E}">
        <p14:creationId xmlns:p14="http://schemas.microsoft.com/office/powerpoint/2010/main" val="2871848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C4DED-3285-695E-1C38-630B2BCDC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3D2A57-D2E2-AEB1-B35C-7B8741C7D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146" y="316277"/>
            <a:ext cx="5637853" cy="772413"/>
          </a:xfrm>
        </p:spPr>
        <p:txBody>
          <a:bodyPr>
            <a:normAutofit/>
          </a:bodyPr>
          <a:lstStyle/>
          <a:p>
            <a:pPr algn="l"/>
            <a:r>
              <a:rPr lang="ru-RU" sz="4000" dirty="0"/>
              <a:t>Задачи проекта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50C59EB-71E6-4413-2E8A-FD45D272B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51799" y="485598"/>
            <a:ext cx="1482054" cy="4337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A4D46D-C4F3-E0BC-9C44-123A2404EBF3}"/>
              </a:ext>
            </a:extLst>
          </p:cNvPr>
          <p:cNvSpPr txBox="1"/>
          <p:nvPr/>
        </p:nvSpPr>
        <p:spPr>
          <a:xfrm>
            <a:off x="526472" y="1932709"/>
            <a:ext cx="95388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ru-RU" sz="2400" dirty="0"/>
              <a:t>Построение процесса по получению, преобразованию данных</a:t>
            </a:r>
          </a:p>
          <a:p>
            <a:pPr marL="457200" indent="-457200">
              <a:buAutoNum type="arabicPeriod"/>
            </a:pPr>
            <a:r>
              <a:rPr lang="ru-RU" sz="2400" dirty="0"/>
              <a:t>Оптимизация хранения данных</a:t>
            </a:r>
          </a:p>
          <a:p>
            <a:pPr marL="457200" indent="-457200">
              <a:buAutoNum type="arabicPeriod"/>
            </a:pPr>
            <a:r>
              <a:rPr lang="ru-RU" sz="2400" dirty="0"/>
              <a:t>Разработка визуализации данных</a:t>
            </a:r>
          </a:p>
        </p:txBody>
      </p:sp>
    </p:spTree>
    <p:extLst>
      <p:ext uri="{BB962C8B-B14F-4D97-AF65-F5344CB8AC3E}">
        <p14:creationId xmlns:p14="http://schemas.microsoft.com/office/powerpoint/2010/main" val="1116794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AE220-00A7-5CCC-D0CD-22D23D3AB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224BF7-480F-0243-D2C7-8E6773BA7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146" y="316277"/>
            <a:ext cx="6877836" cy="772413"/>
          </a:xfrm>
        </p:spPr>
        <p:txBody>
          <a:bodyPr>
            <a:normAutofit/>
          </a:bodyPr>
          <a:lstStyle/>
          <a:p>
            <a:pPr algn="l"/>
            <a:r>
              <a:rPr lang="ru-RU" sz="4000" dirty="0"/>
              <a:t>Используемые инструменты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0DC314B-488C-0F64-44DA-DB46522B3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51799" y="485598"/>
            <a:ext cx="1482054" cy="43377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EB7A22F-FBE7-450B-7134-4C4351359F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083" y="1474577"/>
            <a:ext cx="2735327" cy="244038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2CA236B-7B45-1649-9471-E119EC277F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84641" y="1916125"/>
            <a:ext cx="1752119" cy="155728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C027903-5922-0F6A-45AF-64C4B262E1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717" y="4753749"/>
            <a:ext cx="2825302" cy="118662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B5322C9-BB13-6F6D-B2D5-FFABFE3802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982" y="4895740"/>
            <a:ext cx="2200778" cy="104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817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15796-9245-ABBC-4318-610BF3464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771157-DEF8-43FB-C83E-933AC3A75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77835"/>
            <a:ext cx="9144000" cy="732127"/>
          </a:xfrm>
        </p:spPr>
        <p:txBody>
          <a:bodyPr>
            <a:noAutofit/>
          </a:bodyPr>
          <a:lstStyle/>
          <a:p>
            <a:r>
              <a:rPr lang="ru-RU" sz="5400" dirty="0"/>
              <a:t>Что получилось?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DAAF0B2-CA15-0A81-25F1-0A6F234D9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51799" y="485598"/>
            <a:ext cx="1482054" cy="43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986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EB46E-F878-91EF-858C-C2F9A989C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1EC24B-5893-9B9F-0C00-04A7D861F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147" y="316277"/>
            <a:ext cx="5527964" cy="772413"/>
          </a:xfrm>
        </p:spPr>
        <p:txBody>
          <a:bodyPr>
            <a:normAutofit/>
          </a:bodyPr>
          <a:lstStyle/>
          <a:p>
            <a:pPr algn="l"/>
            <a:r>
              <a:rPr lang="ru-RU" sz="4000" dirty="0"/>
              <a:t>Результат выполнения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95423E3-94BA-7C69-F244-51782B782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51799" y="485598"/>
            <a:ext cx="1482054" cy="433772"/>
          </a:xfrm>
          <a:prstGeom prst="rect">
            <a:avLst/>
          </a:prstGeom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288E562F-C1D1-16D8-5291-747270180529}"/>
              </a:ext>
            </a:extLst>
          </p:cNvPr>
          <p:cNvSpPr/>
          <p:nvPr/>
        </p:nvSpPr>
        <p:spPr>
          <a:xfrm>
            <a:off x="458147" y="2098964"/>
            <a:ext cx="3553691" cy="67194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API </a:t>
            </a:r>
            <a:r>
              <a:rPr lang="ru-RU" sz="2000" dirty="0">
                <a:solidFill>
                  <a:schemeClr val="tx1"/>
                </a:solidFill>
              </a:rPr>
              <a:t>Яндекс Расписаний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9D6641-C426-3466-0596-387D17A61557}"/>
              </a:ext>
            </a:extLst>
          </p:cNvPr>
          <p:cNvSpPr txBox="1"/>
          <p:nvPr/>
        </p:nvSpPr>
        <p:spPr>
          <a:xfrm>
            <a:off x="652110" y="3527269"/>
            <a:ext cx="71964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В качестве источника данных был выбран сервис Яндекса </a:t>
            </a:r>
            <a:r>
              <a:rPr lang="en-US" sz="2000" dirty="0"/>
              <a:t>API</a:t>
            </a:r>
            <a:r>
              <a:rPr lang="ru-RU" sz="2000" dirty="0"/>
              <a:t> расписания – сервис с актуальными расписаниями транспортов. Сервис отдает по </a:t>
            </a:r>
            <a:r>
              <a:rPr lang="en-US" sz="2000" dirty="0"/>
              <a:t>API </a:t>
            </a:r>
            <a:r>
              <a:rPr lang="ru-RU" sz="2000" dirty="0"/>
              <a:t>ответ на запрос в виде </a:t>
            </a:r>
            <a:r>
              <a:rPr lang="en-US" sz="2000" dirty="0"/>
              <a:t>JSON</a:t>
            </a:r>
            <a:r>
              <a:rPr lang="ru-RU" sz="2000" dirty="0"/>
              <a:t>, где указаны дата и время вылета и прилета, аэропорт, авиакомпания и т.д.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A7D3242-3873-5C2D-C5AD-9A2A5DFB44AD}"/>
              </a:ext>
            </a:extLst>
          </p:cNvPr>
          <p:cNvSpPr/>
          <p:nvPr/>
        </p:nvSpPr>
        <p:spPr>
          <a:xfrm>
            <a:off x="458147" y="3609130"/>
            <a:ext cx="100342" cy="11597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148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F5B4F-F9CF-0B0C-5A11-B35D7713A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329684-5812-CDA4-202E-2A5665BE8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147" y="316277"/>
            <a:ext cx="5527964" cy="772413"/>
          </a:xfrm>
        </p:spPr>
        <p:txBody>
          <a:bodyPr>
            <a:normAutofit/>
          </a:bodyPr>
          <a:lstStyle/>
          <a:p>
            <a:pPr algn="l"/>
            <a:r>
              <a:rPr lang="ru-RU" sz="4000" dirty="0"/>
              <a:t>Результат выполнения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34B7436-3A85-1B2D-6ACE-D04AFA8E9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51799" y="485598"/>
            <a:ext cx="1482054" cy="433772"/>
          </a:xfrm>
          <a:prstGeom prst="rect">
            <a:avLst/>
          </a:prstGeom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AF67A55F-ECE7-49DB-CEEC-601B5D021DED}"/>
              </a:ext>
            </a:extLst>
          </p:cNvPr>
          <p:cNvSpPr/>
          <p:nvPr/>
        </p:nvSpPr>
        <p:spPr>
          <a:xfrm>
            <a:off x="458147" y="2098964"/>
            <a:ext cx="3553691" cy="67194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API </a:t>
            </a:r>
            <a:r>
              <a:rPr lang="ru-RU" sz="2000" dirty="0">
                <a:solidFill>
                  <a:schemeClr val="tx1"/>
                </a:solidFill>
              </a:rPr>
              <a:t>Яндекс Расписаний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8A68C2-66FA-D727-BD08-F26014A0D889}"/>
              </a:ext>
            </a:extLst>
          </p:cNvPr>
          <p:cNvSpPr txBox="1"/>
          <p:nvPr/>
        </p:nvSpPr>
        <p:spPr>
          <a:xfrm>
            <a:off x="652110" y="3527269"/>
            <a:ext cx="71964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В качестве целевого хранилища данных была выбрана аналитическая СУБД </a:t>
            </a:r>
            <a:r>
              <a:rPr lang="en-US" sz="2000" dirty="0" err="1"/>
              <a:t>ClickHouse</a:t>
            </a:r>
            <a:r>
              <a:rPr lang="ru-RU" sz="2000" dirty="0"/>
              <a:t>. База данных оптимально подходит для хранения и обработки больших объемов данных, а также поддерживает высокоскоростную вставку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3EA523E-08AD-B093-0D45-E52FB034241D}"/>
              </a:ext>
            </a:extLst>
          </p:cNvPr>
          <p:cNvSpPr/>
          <p:nvPr/>
        </p:nvSpPr>
        <p:spPr>
          <a:xfrm>
            <a:off x="458147" y="3609130"/>
            <a:ext cx="100342" cy="11597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8FDE4F7-6A91-0314-F62E-5E3F7CA74ADC}"/>
              </a:ext>
            </a:extLst>
          </p:cNvPr>
          <p:cNvSpPr/>
          <p:nvPr/>
        </p:nvSpPr>
        <p:spPr>
          <a:xfrm>
            <a:off x="4626473" y="2098964"/>
            <a:ext cx="3553691" cy="67194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ClickHouse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DataBase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1F1A435E-08ED-6530-73E8-97C1C59EC39A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4011838" y="2434937"/>
            <a:ext cx="61463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3537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C33EE-7460-58E7-1775-BF377C5B9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202613-145A-03AD-1EDD-334B1C70E4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147" y="316277"/>
            <a:ext cx="5527964" cy="772413"/>
          </a:xfrm>
        </p:spPr>
        <p:txBody>
          <a:bodyPr>
            <a:normAutofit/>
          </a:bodyPr>
          <a:lstStyle/>
          <a:p>
            <a:pPr algn="l"/>
            <a:r>
              <a:rPr lang="ru-RU" sz="4000" dirty="0"/>
              <a:t>Результат выполнения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697AB00-24FD-657B-DDAC-D55075BC92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51799" y="485598"/>
            <a:ext cx="1482054" cy="433772"/>
          </a:xfrm>
          <a:prstGeom prst="rect">
            <a:avLst/>
          </a:prstGeom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61EB528-19C7-D649-4929-AC6A98F905EB}"/>
              </a:ext>
            </a:extLst>
          </p:cNvPr>
          <p:cNvSpPr/>
          <p:nvPr/>
        </p:nvSpPr>
        <p:spPr>
          <a:xfrm>
            <a:off x="458147" y="2098964"/>
            <a:ext cx="3553691" cy="67194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API </a:t>
            </a:r>
            <a:r>
              <a:rPr lang="ru-RU" sz="2000" dirty="0">
                <a:solidFill>
                  <a:schemeClr val="tx1"/>
                </a:solidFill>
              </a:rPr>
              <a:t>Яндекс Расписаний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D8980A-071D-3885-B3F2-B3078E8B7DDE}"/>
              </a:ext>
            </a:extLst>
          </p:cNvPr>
          <p:cNvSpPr txBox="1"/>
          <p:nvPr/>
        </p:nvSpPr>
        <p:spPr>
          <a:xfrm>
            <a:off x="652110" y="3527269"/>
            <a:ext cx="71964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В качестве инструмента для визуализации данных была выбрана платформа Power BI. Она позволяет строить интерактивные дашборды и быстро подключаться к </a:t>
            </a:r>
            <a:r>
              <a:rPr lang="ru-RU" sz="2000" dirty="0" err="1"/>
              <a:t>ClickHouse</a:t>
            </a:r>
            <a:r>
              <a:rPr lang="ru-RU" sz="2000" dirty="0"/>
              <a:t> для отображения аналитики по рейсам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02BEAA4-6385-BC1F-5C9C-EAA3AA5AF266}"/>
              </a:ext>
            </a:extLst>
          </p:cNvPr>
          <p:cNvSpPr/>
          <p:nvPr/>
        </p:nvSpPr>
        <p:spPr>
          <a:xfrm>
            <a:off x="458147" y="3609130"/>
            <a:ext cx="100342" cy="11597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8E5F2ACE-6E3C-89E7-46D8-4798AC3AA1C1}"/>
              </a:ext>
            </a:extLst>
          </p:cNvPr>
          <p:cNvSpPr/>
          <p:nvPr/>
        </p:nvSpPr>
        <p:spPr>
          <a:xfrm>
            <a:off x="4626473" y="2098964"/>
            <a:ext cx="3553691" cy="67194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ClickHouse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DataBase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4A821956-A0B6-6837-C496-7F55B4BAC4C1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4011838" y="2434937"/>
            <a:ext cx="61463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B02F28E-44E0-0351-1E2C-C56C715EDB89}"/>
              </a:ext>
            </a:extLst>
          </p:cNvPr>
          <p:cNvSpPr/>
          <p:nvPr/>
        </p:nvSpPr>
        <p:spPr>
          <a:xfrm>
            <a:off x="8794800" y="2098964"/>
            <a:ext cx="2939054" cy="67194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Power BI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43E0572C-D91C-0A31-C0A7-09203A616FFA}"/>
              </a:ext>
            </a:extLst>
          </p:cNvPr>
          <p:cNvCxnSpPr>
            <a:endCxn id="8" idx="1"/>
          </p:cNvCxnSpPr>
          <p:nvPr/>
        </p:nvCxnSpPr>
        <p:spPr>
          <a:xfrm>
            <a:off x="8180164" y="2434937"/>
            <a:ext cx="61463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7285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370D8-B0E2-A794-A804-B8ECC2375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04B02C-7739-7B6B-D1B1-497AB4F375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77835"/>
            <a:ext cx="9144000" cy="732127"/>
          </a:xfrm>
        </p:spPr>
        <p:txBody>
          <a:bodyPr>
            <a:noAutofit/>
          </a:bodyPr>
          <a:lstStyle/>
          <a:p>
            <a:r>
              <a:rPr lang="ru-RU" sz="5400" dirty="0"/>
              <a:t>Описание </a:t>
            </a:r>
            <a:r>
              <a:rPr lang="en-US" sz="5400" dirty="0"/>
              <a:t>ETL-</a:t>
            </a:r>
            <a:r>
              <a:rPr lang="ru-RU" sz="5400" dirty="0"/>
              <a:t>процесса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D514AAF-2F76-CFDF-94E8-04AC44513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51799" y="485598"/>
            <a:ext cx="1482054" cy="43377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BC5BE59-EE17-9345-B91E-B30DBD0A1E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6089065"/>
            <a:ext cx="1065853" cy="44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696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95932-5F02-0687-DE2E-76F6EE64B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DE2680-6963-0A0E-57A1-C7AD55720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146" y="316277"/>
            <a:ext cx="5637853" cy="772413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ETL-</a:t>
            </a:r>
            <a:r>
              <a:rPr lang="ru-RU" sz="4000" dirty="0"/>
              <a:t>процесс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144459E-01B8-6E08-E61D-7815E6A940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51799" y="485598"/>
            <a:ext cx="1482054" cy="4337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43F395-EB83-0763-B911-ABC4ACA7AE8F}"/>
              </a:ext>
            </a:extLst>
          </p:cNvPr>
          <p:cNvSpPr txBox="1"/>
          <p:nvPr/>
        </p:nvSpPr>
        <p:spPr>
          <a:xfrm>
            <a:off x="526473" y="1932709"/>
            <a:ext cx="495992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ETL-</a:t>
            </a:r>
            <a:r>
              <a:rPr lang="ru-RU" sz="2000" dirty="0"/>
              <a:t>процесс представляет из себя подход к проектированию потоков данных, реализующий извлечение, трансформацию и загрузку данных с использованием инструментов визуализации. </a:t>
            </a:r>
          </a:p>
          <a:p>
            <a:endParaRPr lang="ru-RU" sz="2000" dirty="0"/>
          </a:p>
          <a:p>
            <a:r>
              <a:rPr lang="ru-RU" sz="2000" dirty="0"/>
              <a:t>Общий вид реализованного потока представлен на изображении.</a:t>
            </a:r>
          </a:p>
        </p:txBody>
      </p:sp>
      <p:pic>
        <p:nvPicPr>
          <p:cNvPr id="5" name="Рисунок 4" descr="Изображение выглядит как текст, диаграмма, линия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15A7F77-5F3C-078A-4A53-180CE7759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965" y="1932709"/>
            <a:ext cx="5849888" cy="296555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59C0EBA-5569-7A7A-8A68-DE6ECA127C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6089065"/>
            <a:ext cx="1065853" cy="44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551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D265D-E9D4-A7FA-E197-A892BED8C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1B7A57-33B4-649C-4AE7-82B7A9BAD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146" y="316277"/>
            <a:ext cx="5637853" cy="772413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ETL-</a:t>
            </a:r>
            <a:r>
              <a:rPr lang="ru-RU" sz="4000" dirty="0"/>
              <a:t>процесс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171F978-3503-4E7B-07DF-FE2E738B0A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51799" y="485598"/>
            <a:ext cx="1482054" cy="4337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A8EF33-EDB6-6A8E-9D6B-623F4A55C6C4}"/>
              </a:ext>
            </a:extLst>
          </p:cNvPr>
          <p:cNvSpPr txBox="1"/>
          <p:nvPr/>
        </p:nvSpPr>
        <p:spPr>
          <a:xfrm>
            <a:off x="526472" y="1932709"/>
            <a:ext cx="953885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 err="1"/>
              <a:t>ExecuteSQLRecord</a:t>
            </a:r>
            <a:r>
              <a:rPr lang="en-US" sz="2000" dirty="0"/>
              <a:t> – </a:t>
            </a:r>
            <a:r>
              <a:rPr lang="ru-RU" sz="2000" dirty="0"/>
              <a:t>выполняет </a:t>
            </a:r>
            <a:r>
              <a:rPr lang="en-US" sz="2000" dirty="0"/>
              <a:t>SQL </a:t>
            </a:r>
            <a:r>
              <a:rPr lang="ru-RU" sz="2000" dirty="0"/>
              <a:t>запрос к базе данных с определенной периодичностью. В этом блоке происходит получение настроек для выполнения запроса по </a:t>
            </a:r>
            <a:r>
              <a:rPr lang="en-US" sz="2000" dirty="0" err="1"/>
              <a:t>api</a:t>
            </a:r>
            <a:r>
              <a:rPr lang="ru-RU" sz="2000" dirty="0"/>
              <a:t>, а также дата запроса и код аэропорта.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err="1"/>
              <a:t>EvaluateJSONPath</a:t>
            </a:r>
            <a:r>
              <a:rPr lang="en-US" sz="2000" dirty="0"/>
              <a:t> – </a:t>
            </a:r>
            <a:r>
              <a:rPr lang="ru-RU" sz="2000" dirty="0"/>
              <a:t>извлекает параметры из </a:t>
            </a:r>
            <a:r>
              <a:rPr lang="en-US" sz="2000" dirty="0" err="1"/>
              <a:t>json</a:t>
            </a:r>
            <a:r>
              <a:rPr lang="en-US" sz="2000" dirty="0"/>
              <a:t> </a:t>
            </a:r>
            <a:r>
              <a:rPr lang="ru-RU" sz="2000" dirty="0"/>
              <a:t>ответа и помещает их в </a:t>
            </a:r>
            <a:r>
              <a:rPr lang="en-US" sz="2000" dirty="0"/>
              <a:t>flow file.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err="1"/>
              <a:t>InvokeHTTP</a:t>
            </a:r>
            <a:r>
              <a:rPr lang="en-US" sz="2000" dirty="0"/>
              <a:t> – </a:t>
            </a:r>
            <a:r>
              <a:rPr lang="ru-RU" sz="2000" dirty="0"/>
              <a:t>отправляет </a:t>
            </a:r>
            <a:r>
              <a:rPr lang="en-US" sz="2000" dirty="0"/>
              <a:t>GET </a:t>
            </a:r>
            <a:r>
              <a:rPr lang="ru-RU" sz="2000" dirty="0"/>
              <a:t>запрос к </a:t>
            </a:r>
            <a:r>
              <a:rPr lang="en-US" sz="2000" dirty="0"/>
              <a:t>API</a:t>
            </a:r>
            <a:r>
              <a:rPr lang="ru-RU" sz="2000" dirty="0"/>
              <a:t>, используя параметры, полученные в предыдущих блоках. Общая структура получаемых данных: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sz="2000" dirty="0"/>
              <a:t>Номер рейса, маршрут рейса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sz="2000" dirty="0"/>
              <a:t>Данные об авиакомпании (название, международные коды)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sz="2000" dirty="0"/>
              <a:t>Модель самолета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sz="2000" dirty="0"/>
              <a:t>Время прибытия, вылета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BEAAB9-24DE-9611-D7E9-27B8E9464F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6089065"/>
            <a:ext cx="1065853" cy="44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190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911B6-4626-F8D0-EB8A-EDD87537C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B143D4-6D5A-B221-596B-09CBF1AEB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146" y="316277"/>
            <a:ext cx="5637853" cy="772413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ETL-</a:t>
            </a:r>
            <a:r>
              <a:rPr lang="ru-RU" sz="4000" dirty="0"/>
              <a:t>процесс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8EFB60C-75FF-3BD6-8E0D-8A0E16579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51799" y="485598"/>
            <a:ext cx="1482054" cy="4337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69965B-A13D-45BE-28AD-613F10D63CE9}"/>
              </a:ext>
            </a:extLst>
          </p:cNvPr>
          <p:cNvSpPr txBox="1"/>
          <p:nvPr/>
        </p:nvSpPr>
        <p:spPr>
          <a:xfrm>
            <a:off x="526472" y="1932709"/>
            <a:ext cx="953885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sz="2000" dirty="0" err="1"/>
              <a:t>SplitJSON</a:t>
            </a:r>
            <a:r>
              <a:rPr lang="en-US" sz="2000" dirty="0"/>
              <a:t> – </a:t>
            </a:r>
            <a:r>
              <a:rPr lang="ru-RU" sz="2000" dirty="0"/>
              <a:t>разделяет </a:t>
            </a:r>
            <a:r>
              <a:rPr lang="en-US" sz="2000" dirty="0"/>
              <a:t>JSON </a:t>
            </a:r>
            <a:r>
              <a:rPr lang="ru-RU" sz="2000" dirty="0"/>
              <a:t>ответ на отдельные записи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sz="2000" dirty="0" err="1"/>
              <a:t>RouteOnAttribute</a:t>
            </a:r>
            <a:r>
              <a:rPr lang="en-US" sz="2000" dirty="0"/>
              <a:t> – </a:t>
            </a:r>
            <a:r>
              <a:rPr lang="ru-RU" sz="2000" dirty="0"/>
              <a:t>направляет данные в зависимости от полученного атрибута в соответствующий поток (</a:t>
            </a:r>
            <a:r>
              <a:rPr lang="en-US" sz="2000" dirty="0"/>
              <a:t>arrival/departure)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sz="2000" dirty="0" err="1"/>
              <a:t>JoltTransformJSON</a:t>
            </a:r>
            <a:r>
              <a:rPr lang="en-US" sz="2000" dirty="0"/>
              <a:t> – </a:t>
            </a:r>
            <a:r>
              <a:rPr lang="ru-RU" sz="2000" dirty="0"/>
              <a:t>выполняет преобразование данных в </a:t>
            </a:r>
            <a:r>
              <a:rPr lang="en-US" sz="2000" dirty="0" err="1"/>
              <a:t>json</a:t>
            </a:r>
            <a:r>
              <a:rPr lang="ru-RU" sz="2000" dirty="0"/>
              <a:t> (добавляет дополнительные поля</a:t>
            </a:r>
            <a:r>
              <a:rPr lang="en-US" sz="2000" dirty="0"/>
              <a:t>, </a:t>
            </a:r>
            <a:r>
              <a:rPr lang="ru-RU" sz="2000" dirty="0"/>
              <a:t>изменяет имена полей на более удобные). Преобразование необходимо для приведения данных в структурированный и пригодный для дальнейшего использования вид.</a:t>
            </a:r>
            <a:endParaRPr lang="en-US" sz="2000" dirty="0"/>
          </a:p>
          <a:p>
            <a:pPr marL="514350" indent="-514350">
              <a:buFont typeface="+mj-lt"/>
              <a:buAutoNum type="arabicPeriod" startAt="4"/>
            </a:pPr>
            <a:r>
              <a:rPr lang="en-US" sz="2000" dirty="0" err="1"/>
              <a:t>PutDatabaseRecord</a:t>
            </a:r>
            <a:r>
              <a:rPr lang="en-US" sz="2000" dirty="0"/>
              <a:t> – </a:t>
            </a:r>
            <a:r>
              <a:rPr lang="ru-RU" sz="2000" dirty="0"/>
              <a:t>записывает преобразованные данные в базу данных в таблицу </a:t>
            </a:r>
            <a:r>
              <a:rPr lang="en-US" sz="2000" dirty="0" err="1"/>
              <a:t>ya.schedule</a:t>
            </a:r>
            <a:endParaRPr lang="ru-RU" sz="2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0145E67-0143-7533-23B7-58EEA08B7C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6089065"/>
            <a:ext cx="1065853" cy="44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938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8164E-3349-6D02-C66E-26D5066F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F8216B-582C-B9B1-09BE-749334CFF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77835"/>
            <a:ext cx="9144000" cy="732127"/>
          </a:xfrm>
        </p:spPr>
        <p:txBody>
          <a:bodyPr>
            <a:noAutofit/>
          </a:bodyPr>
          <a:lstStyle/>
          <a:p>
            <a:r>
              <a:rPr lang="ru-RU" sz="5400" dirty="0"/>
              <a:t>Демонстрация результата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183773B-B507-FC04-F78E-810D385C50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51799" y="485598"/>
            <a:ext cx="1482054" cy="43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5981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4393</TotalTime>
  <Words>404</Words>
  <Application>Microsoft Office PowerPoint</Application>
  <PresentationFormat>Широкоэкранный</PresentationFormat>
  <Paragraphs>51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Тема Office</vt:lpstr>
      <vt:lpstr>Анализ данных об авиаперелетах на основе открытого API</vt:lpstr>
      <vt:lpstr>Обо мне</vt:lpstr>
      <vt:lpstr>План защиты</vt:lpstr>
      <vt:lpstr>Цели проекта</vt:lpstr>
      <vt:lpstr>Задачи проекта</vt:lpstr>
      <vt:lpstr>Используемые инструменты</vt:lpstr>
      <vt:lpstr>Что получилось?</vt:lpstr>
      <vt:lpstr>Результат выполнения</vt:lpstr>
      <vt:lpstr>Результат выполнения</vt:lpstr>
      <vt:lpstr>Результат выполнения</vt:lpstr>
      <vt:lpstr>Описание ETL-процесса</vt:lpstr>
      <vt:lpstr>ETL-процесс</vt:lpstr>
      <vt:lpstr>ETL-процесс</vt:lpstr>
      <vt:lpstr>ETL-процесс</vt:lpstr>
      <vt:lpstr>Демонстрация результата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artem</dc:creator>
  <cp:lastModifiedBy>artem</cp:lastModifiedBy>
  <cp:revision>15</cp:revision>
  <dcterms:created xsi:type="dcterms:W3CDTF">2026-02-15T13:58:56Z</dcterms:created>
  <dcterms:modified xsi:type="dcterms:W3CDTF">2026-02-18T16:48:45Z</dcterms:modified>
</cp:coreProperties>
</file>